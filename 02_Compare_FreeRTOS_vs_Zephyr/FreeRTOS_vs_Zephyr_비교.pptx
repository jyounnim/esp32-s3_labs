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50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SELECTION GUIDE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분석 · 장단점 · 선택 기준과 실제 사례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1280160" cy="45720"/>
          </a:xfrm>
          <a:prstGeom prst="rect">
            <a:avLst/>
          </a:prstGeom>
          <a:solidFill>
            <a:srgbClr val="0A5CE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한눈에 보는 차이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9080" y="174650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철학과 정체성 — 커널 vs 플랫폼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7802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항목 비교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47802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라이선스·풋프린트·생태계·개발경험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0954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FreeRTOS 장단점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320954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강점이 되고 언제 한계가 되는가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4106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Zephyr 장단점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394106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강점이 되고 언제 한계가 되는가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7258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선택 기준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467258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플로우와 판단 질문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0410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실제 사례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5404104"/>
            <a:ext cx="7360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유형별 권장 조합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한눈에 보는 차이 — 정체성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22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349240" cy="73152"/>
          </a:xfrm>
          <a:prstGeom prst="rect">
            <a:avLst/>
          </a:prstGeom>
          <a:solidFill>
            <a:srgbClr val="0A5C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"작고 검증된 커널"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87121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889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2003년 등장, 20년 이상 검증된 스케줄러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493008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4107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라이선스 — 상업적 사용 부담 없음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0325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AWS가 관리, Amazon FreeRTOS로 클라우드 연계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3659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6542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기능은 벤더 SDK/외부 라이브러리로 조합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35838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2760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"OS를 쓴다"기보다 "스케줄러를 얹는다"에 가까움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645920"/>
            <a:ext cx="5349240" cy="73152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87452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22860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"모듈형 임베디드 OS 플랫폼"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287121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78892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2016년 출범, Linux Foundation이 관리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493008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41071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 라이선스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411480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03250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+ 드라이버 모델 + 네트워킹 + 파일시스템 통합 제공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73659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65429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Devicetree/Kconfig로 하드웨어를 선언적으로 구성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535838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27608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"작은 Linux 같은 개발 경험"을 지향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항목 비교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33672" y="1536192"/>
            <a:ext cx="3694176" cy="457200"/>
          </a:xfrm>
          <a:prstGeom prst="roundRect">
            <a:avLst>
              <a:gd name="adj" fmla="val 12000"/>
            </a:avLst>
          </a:prstGeom>
          <a:solidFill>
            <a:srgbClr val="0A5CE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01000" y="155448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주체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434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010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(벤더 중립)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단독 풋프린트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434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9KB Flash / 2KB 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010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18KB Flash / 4KB 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네트워킹/BLE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434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라이브러리·벤더 SDK 조합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네이티브 통합 (BLE, Thread, Matter 등)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43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추상화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4340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SDK에 의존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01000" y="4343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 기반 통일된 드라이버 모델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시스템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43400" y="4892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벤더마다 제각각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4892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+ CMake + Kconfig (통일)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solidFill>
            <a:srgbClr val="12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440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곡선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4340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낮음 — 며칠이면 생산성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0100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 — 개념 학습에 수 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풋프린트는 Cortex-M4/GCC -Os 기준의 공개 벤치마크 참고값 — 실제 값은 버전·설정에 따라 달라짐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BUSTING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"FreeRTOS가 무조건 가볍다"는 2026년엔 절반만 맞다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커널만 비교하면 FreeRTOS가 확실히 작습니다. 하지만 실제 IoT 제품은 커널만 올리지 않습니다 — 네트워킹, 암호화, OTA를 얹는 순간 격차가 크게 줄어듭니다.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22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커널만 비교하면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압승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0273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FreeRTOS: 약 9KB Flash / 2KB RAM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1239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Zephyr: 약 18KB Flash / 4KB RAM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80974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274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2배 차이, FreeRTOS가 유리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2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697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제품 수준에서는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063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격차가 크게 축소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60273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+ TLS + OTA를 모두 포함한 시스템 기준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37960" y="420624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1239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차이는 대략 15~25KB Flash 수준으로 좁혀짐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80974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7274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512KB Flash MCU라면 사실상 결정 요인이 아님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64KB 이하 초소형 MCU가 아니라면, 풋프린트만으로 RTOS를 고르는 시대는 지났다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 err="1" smtClean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압도적인 단순함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Task/Queue/Semaphore 몇 개만 익히면 바로 생산성 — 커널이 무슨 일을 하는지 코드로 다 보인다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넓은 채택 기반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ST, Espressif, Microchip 등 거의 모든 MCU 벤더 SDK가 기본 지원 — 검색하면 예제가 나온다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풋프린트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9KB Flash — 극도로 제한된 MCU에서도 동작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라이선스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 제품에 부담 없이 통합 가능, 법무 검토가 단순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팀 온보딩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RTOS 경험이 적은 팀도 며칠이면 동작하는 제품에 도달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생태계 연계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FreeRTOS로 클라우드 연동이 매끄러움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 err="1" smtClean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 / 한계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커널만 제공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네트워킹·파일시스템·드라이버는 직접 조합해야 함 — 통합·유지보수 부담이 개발팀에 남는다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 추상화가 벤더 SDK에 묶여 있어, MCU를 바꾸면 이식 비용이 크다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빌드 환경 파편화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벤더마다 빌드 방식이 달라 CI/CD 표준화가 어렵다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대응 속도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Matter, Thread 같은 신규 표준은 통합 작업을 직접 해야 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듀얼코어 이식성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 지원은 있으나 칩마다 구현 차이가 커서 코드 이식이 쉽지 않다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대응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FreeRTOS는 안전 인증 미획득 (SafeRTOS는 별도 상용 제품)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플랫폼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+ 드라이버 + 네트워킹 + 파일시스템 + 부트로더까지 한 프로젝트 안에서 해결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뛰어난 이식성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Devicetree로 하드웨어를 분리 — 보드를 바꿔도 overlay만 교체하면 앱 코드는 그대로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중립 거버넌스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Foundation 관리 — 특정 클라우드/벤더에 종속되지 않는다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강력한 연결성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BLE, Thread, Matter 등 최신 프로토콜을 1st-party로 지원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현대적 개발 경험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+ Kconfig + CMake로 통일 — CI/CD, 유닛 테스트, 정적 분석이 자연스럽다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세밀한 스케줄링 제어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스레드별로 협조적/선점형 선택 가능 (FreeRTOS는 시스템 전체 설정)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단점 / 한계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가파른 학습 곡선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74650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Devicetree, Kconfig, west 등 익혀야 할 개념이 많아 첫 빌드까지 시간이 걸린다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설정 부담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2542032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설치와 workspace 구성만으로도 수 GB 다운로드 + 수십 분 소요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큰 커널 풋프린트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3337560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18KB — 극소형 MCU(64KB 이하)에서는 부담이 될 수 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디버깅 난이도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4133088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추상화 계층이 두꺼워 문제 원인이 앱/드라이버/Kconfig 중 어디인지 파악이 어려울 때가 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칩별 지원 편차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928616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포팅 성숙도가 칩마다 다름 — 예: ESP32-S3는 SMP가 아닌 AMP 모델이라 듀얼코어 활용이 복잡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일부 미들웨어 성숙도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5724144"/>
            <a:ext cx="7452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오랜 기간 검증된 FreeRTOS 대비 특정 영역은 아직 축적이 부족할 수 있다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기준 — 이 질문에 답해보세요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제품의 수명과 확장 계획은?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83480" y="1746504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제품·단기 → FreeRTOS  /  제품군 확장·장기 유지보수 → Zephyr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하드웨어를 바꿀 가능성이 있나?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2542032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고정 → FreeRTOS  /  멀티 벤더·차기작 변경 예정 → Zephyr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연결성이 제품의 핵심인가?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3337560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UART/센서 → FreeRTOS  /  BLE·Thread·Matter 필수 → Zephyr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팀의 경험과 규모는?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4133088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소규모·RTOS 초심자 → FreeRTOS  /  Linux 경험 보유·전담 인력 → Zephyr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메모리 여유는?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4928616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64KB 이하 초소형 → FreeRTOS  /  256KB 이상 → 둘 다 가능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4023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벤더 SDK 의존도는?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5724144"/>
            <a:ext cx="6446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SDK를 적극 활용 → FreeRTOS  /  벤더 중립성 중요 → Zephyr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FreeRTOS가 적합한 경우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센서 노드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4650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온습도 측정 후 주기적으로 전송하는 소형 기기 — 커널 외 기능이 거의 필요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벤더 SDK 활용 제품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542032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ESP-IDF, STM32Cube 등 벤더 SDK가 이미 FreeRTOS 기반이라 그대로 쓰는 게 가장 빠름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극소형 MCU 제품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3337560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64KB 이하 — Zephyr 커널만으로도 부담스러운 환경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프로토타이핑 / PoC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4133088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검증이 목적이라 세팅 시간을 최소화해야 하는 단계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소비재 액세서리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928616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리모컨, 소형 완구, 단순 제어기 등 기능이 명확히 한정된 제품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IoT 연동 제품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572414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FreeRTOS로 클라우드 연동 경로가 이미 잘 닦여 있음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Zephyr가 적합한 경우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 프로토콜 IoT 기기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74650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+ Wi-Fi + Thread를 동시에 다루는 스마트홈 허브·게이트웨이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4203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제품군(Product Line) 개발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2542032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코드베이스로 저가/중가/고가 모델을 여러 MCU에 전개해야 하는 경우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3756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지원 스마트홈 기기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3337560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표준을 1st-party로 지원 — 통합 작업 부담이 크게 줄어든다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 / 의료기기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1960" y="4133088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 관리(CONFIG_PM)와 장기 유지보수·인증 로드맵이 중요한 영역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2861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종속을 피하고 싶을 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928616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 수급 리스크 대응 — MCU 교체 시 이식 비용을 낮추려는 전략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12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2414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산업용 엣지 노드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51960" y="5724144"/>
            <a:ext cx="7178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센서 드라이버와 견고한 네트워킹 스택이 함께 필요한 경우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NOTE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ESP32-S3에서는 특히 이 점을 고려하세요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46504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ESP-IDF는 FreeRTOS 기반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60520" y="1746504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ESP32-S3의 공식 SDK가 이미 FreeRTOS 위에 구축 — Arduino 프레임워크도 그 위에서 동작한다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Zephyr는 AMP 모델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651760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ESP32-S3의 Zephyr 포트는 SMP가 아닌 AMP — 코어마다 별도 OS 이미지, IPC로 통신해야 한다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57016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 지원 차이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60520" y="3557016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PlatformIO는 ESP32 계열의 Zephyr 프레임워크를 지원하지 않음 — west 기반으로 별도 구성 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07408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62272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Wi-Fi/BLE 성숙도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4462272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Espressif 자체 스택(ESP-IDF)이 자사 칩에 가장 최적화 — Zephyr 포트는 계속 개선 중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12664"/>
            <a:ext cx="11064240" cy="786384"/>
          </a:xfrm>
          <a:prstGeom prst="roundRect">
            <a:avLst>
              <a:gd name="adj" fmla="val 6977"/>
            </a:avLst>
          </a:prstGeom>
          <a:solidFill>
            <a:srgbClr val="122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67528"/>
            <a:ext cx="3200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활용 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60520" y="5367528"/>
            <a:ext cx="7269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esp-tflite-micro, ESP-WHO 등 Espressif AI 생태계는 ESP-IDF(FreeRTOS) 기준으로 제공된다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125777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ESP32-S3 단일 칩으로 제품을 만든다면 FreeRTOS(ESP-IDF)가 현실적으로 유리하다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37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046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 — 한 문장으로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22A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A5C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FreeRTOS를 선택하라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59689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제품의 범위가 명확히 한정되어 있고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16382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81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MCU가 고정되어 있으며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3075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484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벤더 SDK가 이미 잘 지원하고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15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팀이 빠르게 결과를 내야 할 때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"작고 검증된 커널이면 충분하다"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22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691640"/>
            <a:ext cx="5349240" cy="73152"/>
          </a:xfrm>
          <a:prstGeom prst="rect">
            <a:avLst/>
          </a:prstGeom>
          <a:solidFill>
            <a:srgbClr val="1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20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Zephyr를 선택하라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596896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하드웨어로 확장할 계획이 있고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163824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081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연결성 표준이 핵심이며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3730752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6484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유지보수와 CI/CD가 중요하고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297680"/>
            <a:ext cx="91440" cy="91440"/>
          </a:xfrm>
          <a:prstGeom prst="rect">
            <a:avLst/>
          </a:prstGeom>
          <a:solidFill>
            <a:srgbClr val="24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215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학습에 투자할 여력이 있을 때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502920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47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"플랫폼에 투자할 가치가 있다"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D6E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우열이 아니라 적합성의 문제 — 프로젝트의 제약 조건이 답을 결정한다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vs Zephyr — RTOS 선택 가이드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1392</Words>
  <Application>Microsoft Office PowerPoint</Application>
  <PresentationFormat>사용자 지정</PresentationFormat>
  <Paragraphs>242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유재윤</cp:lastModifiedBy>
  <cp:revision>3</cp:revision>
  <dcterms:created xsi:type="dcterms:W3CDTF">2026-08-05T14:25:52Z</dcterms:created>
  <dcterms:modified xsi:type="dcterms:W3CDTF">2026-08-11T07:03:02Z</dcterms:modified>
</cp:coreProperties>
</file>